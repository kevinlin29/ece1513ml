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2563EB"/>
            </a:solidFill>
          </c:spPr>
          <c:dLbls>
            <c:numFmt formatCode="0.000" sourceLinked="0"/>
            <c:txPr>
              <a:bodyPr/>
              <a:lstStyle/>
              <a:p>
                <a:pPr>
                  <a:defRPr sz="1200" b="1">
                    <a:solidFill>
                      <a:srgbClr val="1E293B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XGBoost
Baseline</c:v>
                </c:pt>
                <c:pt idx="1">
                  <c:v>XGBoost
Tuned</c:v>
                </c:pt>
                <c:pt idx="2">
                  <c:v>MLP
Simple</c:v>
                </c:pt>
                <c:pt idx="3">
                  <c:v>MLP
Wider</c:v>
                </c:pt>
                <c:pt idx="4">
                  <c:v>ResNet
MLP</c:v>
                </c:pt>
                <c:pt idx="5">
                  <c:v>+Deviation
+Data+SiLU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2.246</c:v>
                </c:pt>
                <c:pt idx="1">
                  <c:v>2.018</c:v>
                </c:pt>
                <c:pt idx="2">
                  <c:v>1.931</c:v>
                </c:pt>
                <c:pt idx="3">
                  <c:v>1.9</c:v>
                </c:pt>
                <c:pt idx="4">
                  <c:v>1.848</c:v>
                </c:pt>
                <c:pt idx="5">
                  <c:v>1.825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4"/>
          <c:min val="1.5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/>
                </a:pPr>
                <a:r>
                  <a:t>Test MAE (lower is better)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Traffic Speed Prediction Near</a:t>
            </a:r>
            <a:br/>
            <a:r>
              <a:t>University of Toronto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A3BF"/>
                </a:solidFill>
              </a:defRPr>
            </a:pPr>
            <a:r>
              <a:t>A Machine Learning Approach Using Urban Midblock Speed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11480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A3BF"/>
                </a:solidFill>
              </a:defRPr>
            </a:pPr>
            <a:r>
              <a:t>ECE1513 — Introduction to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Problem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Urban traffic congestion costs Toronto $6B+ annually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Existing systems (loop detectors, GPS probes) give real-time</a:t>
            </a:r>
            <a:br/>
            <a:r>
              <a:t>   data but limited prediction capability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City planners and commuters need 15-min ahead forecasts</a:t>
            </a:r>
            <a:br/>
            <a:r>
              <a:t>   to enable proactive decision-making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Challenge: traffic patterns vary by road segment, time of</a:t>
            </a:r>
            <a:br/>
            <a:r>
              <a:t>   day, day of week, weather, and season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Our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Predict average traffic speed (km/h) on city streets</a:t>
            </a:r>
            <a:br/>
            <a:r>
              <a:t>   within ~1.5 km of U of T St. George campus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15-minute interval predictions using historical speed</a:t>
            </a:r>
            <a:br/>
            <a:r>
              <a:t>   bins, weather, and temporal features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Progressive model improvement: XGBoost baseline</a:t>
            </a:r>
            <a:br/>
            <a:r>
              <a:t>   → feature engineering → neural network with</a:t>
            </a:r>
            <a:br/>
            <a:r>
              <a:t>   residual connections</a:t>
            </a:r>
          </a:p>
          <a:p>
            <a:pPr>
              <a:spcAft>
                <a:spcPts val="1400"/>
              </a:spcAft>
              <a:defRPr sz="1600">
                <a:solidFill>
                  <a:srgbClr val="1E293B"/>
                </a:solidFill>
              </a:defRPr>
            </a:pPr>
            <a:r>
              <a:t>•  Evaluation: MAE, RMSE, R² on chronological</a:t>
            </a:r>
            <a:br/>
            <a:r>
              <a:t>   test split (no data leakage)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Data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5720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</a:defRPr>
            </a:pPr>
            <a:r>
              <a:t>Traffic Speed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Toronto Open Data Portal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2,106,533 records (2020–2025)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14 speed bins → weighted avg speed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15-min intervals, 3,500+ road segments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Filtered to 1,947 segments (≥72h data)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3383280" cy="45720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3832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</a:defRPr>
            </a:pPr>
            <a:r>
              <a:t>Weather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28600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Environment Canada (Stn 6158359)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53,943 hourly observations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Temperature, precipitation, wind,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visibility, humidity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Rain/snow/fog binary flags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383280" cy="45720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383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</a:defRPr>
            </a:pPr>
            <a:r>
              <a:t>Merged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28600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Traffic + weather joined on hour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1,578,402 rows after quality filter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49 engineered features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70/10/20 chronological split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 Train → Val → Test (no shuffling)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Feature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97480" cy="43891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Temporal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Hour, day of week, month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Cyclical encoding (sin/cos)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Rush hour flags (AM/PM)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Weekend indicator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97480" cy="43891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974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45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Weather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Temperature, wind speed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Precipitation, visibility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Wind direction (sin/cos)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Rain/snow/fog flags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97480" cy="43891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97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Lag &amp; Rolling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Speed deviation lags (1,2,4,8,12,16)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Volume deviation lags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Rolling mean/std (4,8,16 window)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Raw speed rolling (shifted by 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97480" cy="43891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6974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645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Historical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19456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Avg speed per segment/hour/DOW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Avg volume per segment/hour/DOW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Speed deviation from historical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Lagged speed × volume 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Target: speed_deviation (difference from historical average) → add back hist_avg_speed at prediction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Model Iteration: XGBoost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Systematic hyperparameter tuning and feature engineering using autoresearch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2.246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Default XGBoost</a:t>
            </a:r>
            <a:br/>
            <a:r>
              <a:t>lr=0.05, depth=6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03120" y="2560320"/>
            <a:ext cx="27432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3160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Hyperparams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2.229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depth=8, lr=0.03</a:t>
            </a:r>
            <a:br/>
            <a:r>
              <a:t>3000 trees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77639" y="2560320"/>
            <a:ext cx="27432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79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+Features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2.153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Rush hour flags</a:t>
            </a:r>
            <a:br/>
            <a:r>
              <a:t>lag 12/16, interactions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52159" y="2560320"/>
            <a:ext cx="27432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199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Data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2.082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39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Remove segments</a:t>
            </a:r>
            <a:br/>
            <a:r>
              <a:t>with &lt; 72h 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726679" y="2560320"/>
            <a:ext cx="27432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19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9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MAE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2.021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Switch to MAE</a:t>
            </a:r>
            <a:br/>
            <a:r>
              <a:t>objective function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01200" y="2560320"/>
            <a:ext cx="27432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21240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40" y="1645920"/>
            <a:ext cx="1645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Final XGB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2.018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lr=0.008, 15k trees</a:t>
            </a:r>
            <a:br/>
            <a:r>
              <a:t>early stopping=50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86400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XGBoost Phase: MAE 2.246 → 2.018  (10.2% improvement)  |  R² 0.891 → 0.904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Model Iteration: Neural Network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Switching to PyTorch MLP on GPU (RTX 5090) unlocked further gains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Simple MLP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1.931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512-256-128</a:t>
            </a:r>
            <a:br/>
            <a:r>
              <a:t>3 linear layers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03120" y="2560320"/>
            <a:ext cx="27432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3160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Wider 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1.900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1024-512-256-128</a:t>
            </a:r>
            <a:br/>
            <a:r>
              <a:t>4 linear layers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77639" y="2560320"/>
            <a:ext cx="27432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79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ResNet 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1.848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Residual connections</a:t>
            </a:r>
            <a:br/>
            <a:r>
              <a:t>512→512→256 blocks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52159" y="2560320"/>
            <a:ext cx="27432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199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39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Deviation</a:t>
            </a:r>
            <a:br/>
            <a: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1.842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39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Predict deviation</a:t>
            </a:r>
            <a:br/>
            <a:r>
              <a:t>from hist. average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726679" y="2560320"/>
            <a:ext cx="27432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19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9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+2025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1.830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Added 370K rows</a:t>
            </a:r>
            <a:br/>
            <a:r>
              <a:t>of 2025 speed data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01200" y="2560320"/>
            <a:ext cx="27432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21240" y="1645920"/>
            <a:ext cx="1645920" cy="347472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40" y="1645920"/>
            <a:ext cx="16459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18288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SiLU</a:t>
            </a:r>
            <a:br/>
            <a:r>
              <a:t>Activation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93B"/>
                </a:solidFill>
              </a:defRPr>
            </a:pPr>
            <a:r>
              <a:t>MAE: 1.825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92608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SiLU (Swish)</a:t>
            </a:r>
            <a:br/>
            <a:r>
              <a:t>replaces ReLU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86400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Neural Network Phase: MAE 1.931 → 1.825  (5.5% improvement)  |  R² 0.910 → 0.917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Final Model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554480" cy="16459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49 Features</a:t>
            </a:r>
            <a:br/>
            <a:r>
              <a:t>(Input)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645920"/>
            <a:ext cx="1554480" cy="164592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9202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563EB"/>
                </a:solidFill>
              </a:defRPr>
            </a:pPr>
            <a:r>
              <a:t>Linear 512</a:t>
            </a:r>
            <a:br/>
            <a:r>
              <a:t>+ SiLU + BN</a:t>
            </a:r>
            <a:br/>
            <a:r>
              <a:t>+ Dropout(0.3)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1554480" cy="164592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9202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563EB"/>
                </a:solidFill>
              </a:defRPr>
            </a:pPr>
            <a:r>
              <a:t>ResBlock 512</a:t>
            </a:r>
            <a:br/>
            <a:r>
              <a:t>(2 layers + skip)</a:t>
            </a:r>
            <a:br/>
            <a:r>
              <a:t>+ Dropout(0.2)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1554480" cy="164592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563EB"/>
                </a:solidFill>
              </a:defRPr>
            </a:pPr>
            <a:r>
              <a:t>ResBlock 512</a:t>
            </a:r>
            <a:br/>
            <a:r>
              <a:t>(2 layers + skip)</a:t>
            </a:r>
            <a:br/>
            <a:r>
              <a:t>+ Dropout(0.2)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1554480" cy="1645920"/>
          </a:xfrm>
          <a:prstGeom prst="roundRect">
            <a:avLst>
              <a:gd name="adj" fmla="val 3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9202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C3AED"/>
                </a:solidFill>
              </a:defRPr>
            </a:pPr>
            <a:r>
              <a:t>Linear 256</a:t>
            </a:r>
            <a:br/>
            <a:r>
              <a:t>+ SiLU + BN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645920"/>
            <a:ext cx="1554480" cy="1645920"/>
          </a:xfrm>
          <a:prstGeom prst="roundRect">
            <a:avLst>
              <a:gd name="adj" fmla="val 3000"/>
            </a:avLst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21240" y="19202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C3AED"/>
                </a:solidFill>
              </a:defRPr>
            </a:pPr>
            <a:r>
              <a:t>ResBlock 256</a:t>
            </a:r>
            <a:br/>
            <a:r>
              <a:t>(2 layers + skip)</a:t>
            </a:r>
            <a:br/>
            <a:r>
              <a:t>+ Dropout(0.1)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3840480"/>
            <a:ext cx="1554480" cy="9144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39319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</a:defRPr>
            </a:pPr>
            <a:r>
              <a:t>Linear 1</a:t>
            </a:r>
            <a:br/>
            <a:r>
              <a:t>→ speed_deviation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377440" y="2286000"/>
            <a:ext cx="228600" cy="22860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4206240" y="2286000"/>
            <a:ext cx="228600" cy="22860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6035040" y="2286000"/>
            <a:ext cx="228600" cy="22860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863840" y="2286000"/>
            <a:ext cx="228600" cy="22860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9692640" y="2286000"/>
            <a:ext cx="228600" cy="22860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10469880" y="3383280"/>
            <a:ext cx="228600" cy="36576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8686800" cy="22860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</a:defRPr>
            </a:pPr>
            <a:r>
              <a:t>Training Configuration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548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 Optimizer: AdamW (lr=1e-3, wd=1e-4)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 Scheduler: ReduceLROnPlateau (patience=5)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 Loss: L1 (MAE)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 Batch size: 4096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7548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 Early stopping: patience=20 on val MAE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 Gradient clipping: max_norm=1.0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 GPU: NVIDIA RTX 5090 (32GB)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 Training time: ~50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Results: Model Comparison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46720" y="1645920"/>
          <a:ext cx="3657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XGBoost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XGBoost Tuned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2.018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3.220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0.904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Simple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Wider MLP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1.900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3.107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0.911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ResNet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7C3AED"/>
                          </a:solidFill>
                        </a:defRPr>
                      </a:pPr>
                      <a:r>
                        <a:t>Final (best)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7C3AED"/>
                          </a:solidFill>
                        </a:defRPr>
                      </a:pPr>
                      <a:r>
                        <a:t>1.825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7C3AED"/>
                          </a:solidFill>
                        </a:defRPr>
                      </a:pPr>
                      <a:r>
                        <a:t>3.055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7C3AED"/>
                          </a:solidFill>
                        </a:defRPr>
                      </a:pPr>
                      <a:r>
                        <a:t>0.917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50292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Overall: 18.7% MAE reduction</a:t>
            </a:r>
            <a:br/>
            <a:r>
              <a:t>R² improved from 0.891 to 0.917</a:t>
            </a:r>
            <a:br/>
            <a:r>
              <a:t>47 experiments, 28 kept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Autoresearch: Experiment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Inspired by karpathy/autoresearch — autonomous AI-driven experiment loop with keep/discard decisions</a:t>
            </a:r>
          </a:p>
        </p:txBody>
      </p:sp>
      <p:pic>
        <p:nvPicPr>
          <p:cNvPr id="5" name="Picture 4" descr="autoresearch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A34A"/>
                </a:solidFill>
              </a:defRPr>
            </a:pPr>
            <a:r>
              <a:t>What Worked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✓  MAE loss objective (aligning loss with metric)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✓  Filtering low-quality road segments (&lt; 72h data)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✓  Residual connections in MLP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✓  Speed deviation target (centering near 0)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✓  More data (adding 2025 speed observations)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✓  SiLU activation over ReLU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✓  Lag features at multiple time horizons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✓  Data quality &gt; data quantity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120640" cy="50292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120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</a:defRPr>
            </a:pPr>
            <a:r>
              <a:t>What Didn't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✗  Entity embeddings (too few samples per segment)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✗  CatBoost (couldn't match XGBoost on this data)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✗  OneCycleLR (ReduceLROnPlateau was better)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✗  GELU / SmoothL1 loss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✗  LayerNorm (BatchNorm was superior)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✗  XGB+MLP ensemble (MLP already dominant)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✗  Very low learning rate (0.005) for XGBoost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✗  Seasonal features (month sin/cos, week_of_year)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108960" cy="2286000"/>
          </a:xfrm>
          <a:prstGeom prst="roundRect">
            <a:avLst>
              <a:gd name="adj" fmla="val 3000"/>
            </a:avLst>
          </a:prstGeom>
          <a:solidFill>
            <a:srgbClr val="2D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18.7%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MAE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2.246 → 1.825 km/h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108960" cy="2286000"/>
          </a:xfrm>
          <a:prstGeom prst="roundRect">
            <a:avLst>
              <a:gd name="adj" fmla="val 3000"/>
            </a:avLst>
          </a:prstGeom>
          <a:solidFill>
            <a:srgbClr val="2D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0.917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R²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up from 0.891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108960" cy="2286000"/>
          </a:xfrm>
          <a:prstGeom prst="roundRect">
            <a:avLst>
              <a:gd name="adj" fmla="val 3000"/>
            </a:avLst>
          </a:prstGeom>
          <a:solidFill>
            <a:srgbClr val="2D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Experiments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28 kept, 19 discarded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0C8D4"/>
                </a:solidFill>
              </a:defRPr>
            </a:pPr>
            <a:r>
              <a:t>•  Progressive model improvement from tree-based to neural network methods yields consistent gains</a:t>
            </a:r>
          </a:p>
          <a:p>
            <a:pPr>
              <a:spcAft>
                <a:spcPts val="1400"/>
              </a:spcAft>
              <a:defRPr sz="1600">
                <a:solidFill>
                  <a:srgbClr val="C0C8D4"/>
                </a:solidFill>
              </a:defRPr>
            </a:pPr>
            <a:r>
              <a:t>•  Data quality (filtering noisy segments) and loss alignment (MAE objective) had the biggest single impacts</a:t>
            </a:r>
          </a:p>
          <a:p>
            <a:pPr>
              <a:spcAft>
                <a:spcPts val="1400"/>
              </a:spcAft>
              <a:defRPr sz="1600">
                <a:solidFill>
                  <a:srgbClr val="C0C8D4"/>
                </a:solidFill>
              </a:defRPr>
            </a:pPr>
            <a:r>
              <a:t>•  ResNet-style MLP with SiLU activation outperforms gradient boosting on this traffic prediction task</a:t>
            </a:r>
          </a:p>
          <a:p>
            <a:pPr>
              <a:spcAft>
                <a:spcPts val="1400"/>
              </a:spcAft>
              <a:defRPr sz="1600">
                <a:solidFill>
                  <a:srgbClr val="C0C8D4"/>
                </a:solidFill>
              </a:defRPr>
            </a:pPr>
            <a:r>
              <a:t>•  Autoresearch methodology enables systematic, reproducible experimentation at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